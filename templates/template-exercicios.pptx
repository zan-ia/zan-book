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80700"/>
  <p:notesSz cx="7556500" cy="1068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1" d="100"/>
          <a:sy n="51" d="100"/>
        </p:scale>
        <p:origin x="254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pc="-50" dirty="0">
                <a:latin typeface="Arial"/>
                <a:cs typeface="Arial"/>
              </a:rPr>
              <a:t>●</a:t>
            </a:r>
            <a:r>
              <a:rPr dirty="0">
                <a:latin typeface="Arial"/>
                <a:cs typeface="Arial"/>
              </a:rPr>
              <a:t>	</a:t>
            </a:r>
            <a:r>
              <a:rPr spc="-20" dirty="0"/>
              <a:t>Todo</a:t>
            </a:r>
            <a:r>
              <a:rPr spc="-4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código</a:t>
            </a:r>
            <a:r>
              <a:rPr spc="-35" dirty="0"/>
              <a:t> </a:t>
            </a:r>
            <a:r>
              <a:rPr dirty="0"/>
              <a:t>precisa</a:t>
            </a:r>
            <a:r>
              <a:rPr spc="-40" dirty="0"/>
              <a:t> </a:t>
            </a:r>
            <a:r>
              <a:rPr dirty="0"/>
              <a:t>estar</a:t>
            </a:r>
            <a:r>
              <a:rPr spc="-35" dirty="0"/>
              <a:t> </a:t>
            </a:r>
            <a:r>
              <a:rPr spc="-10" dirty="0"/>
              <a:t>fortemente</a:t>
            </a:r>
            <a:r>
              <a:rPr spc="-35" dirty="0"/>
              <a:t> </a:t>
            </a:r>
            <a:r>
              <a:rPr spc="-10" dirty="0"/>
              <a:t>tipado.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pc="-50" dirty="0">
                <a:latin typeface="Arial"/>
                <a:cs typeface="Arial"/>
              </a:rPr>
              <a:t>●</a:t>
            </a:r>
            <a:r>
              <a:rPr dirty="0">
                <a:latin typeface="Arial"/>
                <a:cs typeface="Arial"/>
              </a:rPr>
              <a:t>	</a:t>
            </a:r>
            <a:r>
              <a:rPr spc="-20" dirty="0"/>
              <a:t>Todo</a:t>
            </a:r>
            <a:r>
              <a:rPr spc="-4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código</a:t>
            </a:r>
            <a:r>
              <a:rPr spc="-35" dirty="0"/>
              <a:t> </a:t>
            </a:r>
            <a:r>
              <a:rPr dirty="0"/>
              <a:t>precisa</a:t>
            </a:r>
            <a:r>
              <a:rPr spc="-40" dirty="0"/>
              <a:t> </a:t>
            </a:r>
            <a:r>
              <a:rPr dirty="0"/>
              <a:t>estar</a:t>
            </a:r>
            <a:r>
              <a:rPr spc="-35" dirty="0"/>
              <a:t> </a:t>
            </a:r>
            <a:r>
              <a:rPr spc="-10" dirty="0"/>
              <a:t>fortemente</a:t>
            </a:r>
            <a:r>
              <a:rPr spc="-35" dirty="0"/>
              <a:t> </a:t>
            </a:r>
            <a:r>
              <a:rPr spc="-10" dirty="0"/>
              <a:t>tipado.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pc="-50" dirty="0">
                <a:latin typeface="Arial"/>
                <a:cs typeface="Arial"/>
              </a:rPr>
              <a:t>●</a:t>
            </a:r>
            <a:r>
              <a:rPr dirty="0">
                <a:latin typeface="Arial"/>
                <a:cs typeface="Arial"/>
              </a:rPr>
              <a:t>	</a:t>
            </a:r>
            <a:r>
              <a:rPr spc="-20" dirty="0"/>
              <a:t>Todo</a:t>
            </a:r>
            <a:r>
              <a:rPr spc="-4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código</a:t>
            </a:r>
            <a:r>
              <a:rPr spc="-35" dirty="0"/>
              <a:t> </a:t>
            </a:r>
            <a:r>
              <a:rPr dirty="0"/>
              <a:t>precisa</a:t>
            </a:r>
            <a:r>
              <a:rPr spc="-40" dirty="0"/>
              <a:t> </a:t>
            </a:r>
            <a:r>
              <a:rPr dirty="0"/>
              <a:t>estar</a:t>
            </a:r>
            <a:r>
              <a:rPr spc="-35" dirty="0"/>
              <a:t> </a:t>
            </a:r>
            <a:r>
              <a:rPr spc="-10" dirty="0"/>
              <a:t>fortemente</a:t>
            </a:r>
            <a:r>
              <a:rPr spc="-35" dirty="0"/>
              <a:t> </a:t>
            </a:r>
            <a:r>
              <a:rPr spc="-10" dirty="0"/>
              <a:t>tipado.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pc="-50" dirty="0">
                <a:latin typeface="Arial"/>
                <a:cs typeface="Arial"/>
              </a:rPr>
              <a:t>●</a:t>
            </a:r>
            <a:r>
              <a:rPr dirty="0">
                <a:latin typeface="Arial"/>
                <a:cs typeface="Arial"/>
              </a:rPr>
              <a:t>	</a:t>
            </a:r>
            <a:r>
              <a:rPr spc="-20" dirty="0"/>
              <a:t>Todo</a:t>
            </a:r>
            <a:r>
              <a:rPr spc="-4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código</a:t>
            </a:r>
            <a:r>
              <a:rPr spc="-35" dirty="0"/>
              <a:t> </a:t>
            </a:r>
            <a:r>
              <a:rPr dirty="0"/>
              <a:t>precisa</a:t>
            </a:r>
            <a:r>
              <a:rPr spc="-40" dirty="0"/>
              <a:t> </a:t>
            </a:r>
            <a:r>
              <a:rPr dirty="0"/>
              <a:t>estar</a:t>
            </a:r>
            <a:r>
              <a:rPr spc="-35" dirty="0"/>
              <a:t> </a:t>
            </a:r>
            <a:r>
              <a:rPr spc="-10" dirty="0"/>
              <a:t>fortemente</a:t>
            </a:r>
            <a:r>
              <a:rPr spc="-35" dirty="0"/>
              <a:t> </a:t>
            </a:r>
            <a:r>
              <a:rPr spc="-10" dirty="0"/>
              <a:t>tipado.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pc="-50" dirty="0">
                <a:latin typeface="Arial"/>
                <a:cs typeface="Arial"/>
              </a:rPr>
              <a:t>●</a:t>
            </a:r>
            <a:r>
              <a:rPr dirty="0">
                <a:latin typeface="Arial"/>
                <a:cs typeface="Arial"/>
              </a:rPr>
              <a:t>	</a:t>
            </a:r>
            <a:r>
              <a:rPr spc="-20" dirty="0"/>
              <a:t>Todo</a:t>
            </a:r>
            <a:r>
              <a:rPr spc="-4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código</a:t>
            </a:r>
            <a:r>
              <a:rPr spc="-35" dirty="0"/>
              <a:t> </a:t>
            </a:r>
            <a:r>
              <a:rPr dirty="0"/>
              <a:t>precisa</a:t>
            </a:r>
            <a:r>
              <a:rPr spc="-40" dirty="0"/>
              <a:t> </a:t>
            </a:r>
            <a:r>
              <a:rPr dirty="0"/>
              <a:t>estar</a:t>
            </a:r>
            <a:r>
              <a:rPr spc="-35" dirty="0"/>
              <a:t> </a:t>
            </a:r>
            <a:r>
              <a:rPr spc="-10" dirty="0"/>
              <a:t>fortemente</a:t>
            </a:r>
            <a:r>
              <a:rPr spc="-35" dirty="0"/>
              <a:t> </a:t>
            </a:r>
            <a:r>
              <a:rPr spc="-10" dirty="0"/>
              <a:t>tipado.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7556500" cy="106807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6512" y="9364242"/>
            <a:ext cx="3481070" cy="2101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pc="-50" dirty="0">
                <a:latin typeface="Arial"/>
                <a:cs typeface="Arial"/>
              </a:rPr>
              <a:t>●</a:t>
            </a:r>
            <a:r>
              <a:rPr dirty="0">
                <a:latin typeface="Arial"/>
                <a:cs typeface="Arial"/>
              </a:rPr>
              <a:t>	</a:t>
            </a:r>
            <a:r>
              <a:rPr spc="-20" dirty="0"/>
              <a:t>Todo</a:t>
            </a:r>
            <a:r>
              <a:rPr spc="-40" dirty="0"/>
              <a:t> </a:t>
            </a:r>
            <a:r>
              <a:rPr dirty="0"/>
              <a:t>o</a:t>
            </a:r>
            <a:r>
              <a:rPr spc="-35" dirty="0"/>
              <a:t> </a:t>
            </a:r>
            <a:r>
              <a:rPr dirty="0"/>
              <a:t>código</a:t>
            </a:r>
            <a:r>
              <a:rPr spc="-35" dirty="0"/>
              <a:t> </a:t>
            </a:r>
            <a:r>
              <a:rPr dirty="0"/>
              <a:t>precisa</a:t>
            </a:r>
            <a:r>
              <a:rPr spc="-40" dirty="0"/>
              <a:t> </a:t>
            </a:r>
            <a:r>
              <a:rPr dirty="0"/>
              <a:t>estar</a:t>
            </a:r>
            <a:r>
              <a:rPr spc="-35" dirty="0"/>
              <a:t> </a:t>
            </a:r>
            <a:r>
              <a:rPr spc="-10" dirty="0"/>
              <a:t>fortemente</a:t>
            </a:r>
            <a:r>
              <a:rPr spc="-35" dirty="0"/>
              <a:t> </a:t>
            </a:r>
            <a:r>
              <a:rPr spc="-10" dirty="0"/>
              <a:t>tipado.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95902" y="1098301"/>
            <a:ext cx="112522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spc="-25" dirty="0">
                <a:solidFill>
                  <a:srgbClr val="20C591"/>
                </a:solidFill>
                <a:latin typeface="Arial"/>
                <a:cs typeface="Arial"/>
              </a:rPr>
              <a:t>&lt;/&gt;</a:t>
            </a:r>
            <a:endParaRPr sz="60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48400" y="2375818"/>
            <a:ext cx="6231890" cy="7844790"/>
            <a:chOff x="448400" y="2375818"/>
            <a:chExt cx="6231890" cy="7844790"/>
          </a:xfrm>
        </p:grpSpPr>
        <p:sp>
          <p:nvSpPr>
            <p:cNvPr id="4" name="object 4"/>
            <p:cNvSpPr/>
            <p:nvPr/>
          </p:nvSpPr>
          <p:spPr>
            <a:xfrm>
              <a:off x="732156" y="2618682"/>
              <a:ext cx="5948045" cy="7602220"/>
            </a:xfrm>
            <a:custGeom>
              <a:avLst/>
              <a:gdLst/>
              <a:ahLst/>
              <a:cxnLst/>
              <a:rect l="l" t="t" r="r" b="b"/>
              <a:pathLst>
                <a:path w="5948045" h="7602220">
                  <a:moveTo>
                    <a:pt x="5947849" y="7601642"/>
                  </a:moveTo>
                  <a:lnTo>
                    <a:pt x="991327" y="7601642"/>
                  </a:lnTo>
                  <a:lnTo>
                    <a:pt x="0" y="6610314"/>
                  </a:lnTo>
                  <a:lnTo>
                    <a:pt x="0" y="0"/>
                  </a:lnTo>
                  <a:lnTo>
                    <a:pt x="4956520" y="0"/>
                  </a:lnTo>
                  <a:lnTo>
                    <a:pt x="5947849" y="991327"/>
                  </a:lnTo>
                  <a:lnTo>
                    <a:pt x="5947849" y="7601642"/>
                  </a:lnTo>
                  <a:close/>
                </a:path>
              </a:pathLst>
            </a:custGeom>
            <a:solidFill>
              <a:srgbClr val="20C591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8400" y="2375818"/>
              <a:ext cx="896799" cy="8967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96925" y="1208126"/>
            <a:ext cx="3438525" cy="646331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800" b="1" dirty="0" err="1">
                <a:solidFill>
                  <a:srgbClr val="0C609D"/>
                </a:solidFill>
                <a:latin typeface="Arial"/>
                <a:cs typeface="Arial"/>
              </a:rPr>
              <a:t>Módulo</a:t>
            </a:r>
            <a:r>
              <a:rPr sz="1800" b="1" spc="-95" dirty="0">
                <a:solidFill>
                  <a:srgbClr val="0C609D"/>
                </a:solidFill>
                <a:latin typeface="Arial"/>
                <a:cs typeface="Arial"/>
              </a:rPr>
              <a:t> </a:t>
            </a:r>
            <a:r>
              <a:rPr lang="pt-BR" b="1" spc="-25" dirty="0">
                <a:solidFill>
                  <a:srgbClr val="0C609D"/>
                </a:solidFill>
                <a:latin typeface="Arial"/>
                <a:cs typeface="Arial"/>
              </a:rPr>
              <a:t>XX</a:t>
            </a:r>
            <a:endParaRPr sz="1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lang="pt-BR" sz="1800" b="1" dirty="0" err="1">
                <a:solidFill>
                  <a:srgbClr val="0C609D"/>
                </a:solidFill>
                <a:latin typeface="Arial"/>
                <a:cs typeface="Arial"/>
              </a:rPr>
              <a:t>NomeDoMódulo</a:t>
            </a:r>
            <a:r>
              <a:rPr lang="pt-BR" sz="1800" b="1" dirty="0">
                <a:solidFill>
                  <a:srgbClr val="0C609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C609D"/>
                </a:solidFill>
                <a:latin typeface="Arial"/>
                <a:cs typeface="Arial"/>
              </a:rPr>
              <a:t>(Aula</a:t>
            </a:r>
            <a:r>
              <a:rPr sz="1800" b="1" spc="-35" dirty="0">
                <a:solidFill>
                  <a:srgbClr val="0C609D"/>
                </a:solidFill>
                <a:latin typeface="Arial"/>
                <a:cs typeface="Arial"/>
              </a:rPr>
              <a:t> </a:t>
            </a:r>
            <a:r>
              <a:rPr lang="pt-BR" b="1" spc="-25" dirty="0">
                <a:solidFill>
                  <a:srgbClr val="0C609D"/>
                </a:solidFill>
                <a:latin typeface="Arial"/>
                <a:cs typeface="Arial"/>
              </a:rPr>
              <a:t>YY</a:t>
            </a:r>
            <a:r>
              <a:rPr sz="1800" b="1" spc="-25" dirty="0">
                <a:solidFill>
                  <a:srgbClr val="0C609D"/>
                </a:solidFill>
                <a:latin typeface="Arial"/>
                <a:cs typeface="Arial"/>
              </a:rPr>
              <a:t>)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6512" y="9080525"/>
            <a:ext cx="3481070" cy="210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32740" algn="l"/>
              </a:tabLst>
            </a:pPr>
            <a:r>
              <a:rPr sz="1200" spc="-50" dirty="0">
                <a:latin typeface="Arial"/>
                <a:cs typeface="Arial"/>
              </a:rPr>
              <a:t>●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-20" dirty="0">
                <a:latin typeface="Tahoma"/>
                <a:cs typeface="Tahoma"/>
              </a:rPr>
              <a:t>Todo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código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precisa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estar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fortemente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tipado.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18225" y="2805458"/>
            <a:ext cx="299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C609D"/>
                </a:solidFill>
                <a:latin typeface="Arial"/>
                <a:cs typeface="Arial"/>
              </a:rPr>
              <a:t>Questões</a:t>
            </a:r>
            <a:r>
              <a:rPr sz="1800" b="1" spc="-25" dirty="0">
                <a:solidFill>
                  <a:srgbClr val="0C609D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C609D"/>
                </a:solidFill>
                <a:latin typeface="Arial"/>
                <a:cs typeface="Arial"/>
              </a:rPr>
              <a:t>de</a:t>
            </a:r>
            <a:r>
              <a:rPr sz="1800" b="1" spc="-25" dirty="0">
                <a:solidFill>
                  <a:srgbClr val="0C609D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0C609D"/>
                </a:solidFill>
                <a:latin typeface="Arial"/>
                <a:cs typeface="Arial"/>
              </a:rPr>
              <a:t>aprendizagem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9963" y="3481297"/>
            <a:ext cx="5474970" cy="553847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 indent="187325">
              <a:lnSpc>
                <a:spcPts val="1300"/>
              </a:lnSpc>
              <a:spcBef>
                <a:spcPts val="260"/>
              </a:spcBef>
              <a:buAutoNum type="arabicParenR"/>
              <a:tabLst>
                <a:tab pos="200025" algn="l"/>
              </a:tabLst>
            </a:pPr>
            <a:r>
              <a:rPr sz="1200" dirty="0">
                <a:latin typeface="Tahoma"/>
                <a:cs typeface="Tahoma"/>
              </a:rPr>
              <a:t>O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são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generics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em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TypeScript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qual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é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propósito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principal</a:t>
            </a:r>
            <a:r>
              <a:rPr sz="1200" spc="-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desse </a:t>
            </a:r>
            <a:r>
              <a:rPr sz="1200" spc="-10" dirty="0">
                <a:latin typeface="Tahoma"/>
                <a:cs typeface="Tahoma"/>
              </a:rPr>
              <a:t>recurso </a:t>
            </a:r>
            <a:r>
              <a:rPr sz="1200" dirty="0">
                <a:latin typeface="Tahoma"/>
                <a:cs typeface="Tahoma"/>
              </a:rPr>
              <a:t>na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linguagem?</a:t>
            </a:r>
            <a:endParaRPr sz="1200">
              <a:latin typeface="Tahoma"/>
              <a:cs typeface="Tahoma"/>
            </a:endParaRPr>
          </a:p>
          <a:p>
            <a:pPr marL="200025" indent="-187325">
              <a:lnSpc>
                <a:spcPct val="100000"/>
              </a:lnSpc>
              <a:spcBef>
                <a:spcPts val="660"/>
              </a:spcBef>
              <a:buAutoNum type="arabicParenR"/>
              <a:tabLst>
                <a:tab pos="200025" algn="l"/>
              </a:tabLst>
            </a:pPr>
            <a:r>
              <a:rPr sz="1200" dirty="0">
                <a:latin typeface="Tahoma"/>
                <a:cs typeface="Tahoma"/>
              </a:rPr>
              <a:t>É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possível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utilizar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generics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com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classes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interfaces?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Justifique.</a:t>
            </a:r>
            <a:endParaRPr sz="1200">
              <a:latin typeface="Tahoma"/>
              <a:cs typeface="Tahoma"/>
            </a:endParaRPr>
          </a:p>
          <a:p>
            <a:pPr marL="12700" marR="5080" indent="217170">
              <a:lnSpc>
                <a:spcPts val="1300"/>
              </a:lnSpc>
              <a:spcBef>
                <a:spcPts val="840"/>
              </a:spcBef>
              <a:buAutoNum type="arabicParenR"/>
              <a:tabLst>
                <a:tab pos="229870" algn="l"/>
              </a:tabLst>
            </a:pPr>
            <a:r>
              <a:rPr sz="1200" dirty="0">
                <a:latin typeface="Tahoma"/>
                <a:cs typeface="Tahoma"/>
              </a:rPr>
              <a:t>Quais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são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os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principais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benefícios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adicionar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tipagem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à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manipulação</a:t>
            </a:r>
            <a:r>
              <a:rPr sz="1200" spc="18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do </a:t>
            </a:r>
            <a:r>
              <a:rPr sz="1200" spc="-20" dirty="0">
                <a:latin typeface="Tahoma"/>
                <a:cs typeface="Tahoma"/>
              </a:rPr>
              <a:t>DOM?</a:t>
            </a:r>
            <a:endParaRPr sz="1200">
              <a:latin typeface="Tahoma"/>
              <a:cs typeface="Tahoma"/>
            </a:endParaRPr>
          </a:p>
          <a:p>
            <a:pPr marL="12700" marR="8255" indent="241300" algn="just">
              <a:lnSpc>
                <a:spcPts val="1300"/>
              </a:lnSpc>
              <a:spcBef>
                <a:spcPts val="819"/>
              </a:spcBef>
              <a:buAutoNum type="arabicParenR"/>
              <a:tabLst>
                <a:tab pos="254000" algn="l"/>
              </a:tabLst>
            </a:pPr>
            <a:r>
              <a:rPr sz="1200" dirty="0">
                <a:latin typeface="Tahoma"/>
                <a:cs typeface="Tahoma"/>
              </a:rPr>
              <a:t>Crie</a:t>
            </a:r>
            <a:r>
              <a:rPr sz="1200" spc="3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projeto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em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TypeScript,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instalando</a:t>
            </a:r>
            <a:r>
              <a:rPr sz="1200" spc="3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as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dependências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35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julgar </a:t>
            </a:r>
            <a:r>
              <a:rPr sz="1200" dirty="0">
                <a:latin typeface="Tahoma"/>
                <a:cs typeface="Tahoma"/>
              </a:rPr>
              <a:t>necessárias.</a:t>
            </a:r>
            <a:r>
              <a:rPr sz="1200" spc="4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Envie</a:t>
            </a:r>
            <a:r>
              <a:rPr sz="1200" spc="4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409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arquivo</a:t>
            </a:r>
            <a:r>
              <a:rPr sz="1200" spc="4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compactado</a:t>
            </a:r>
            <a:r>
              <a:rPr sz="1200" spc="409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contendo:</a:t>
            </a:r>
            <a:r>
              <a:rPr sz="1200" spc="4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i)</a:t>
            </a:r>
            <a:r>
              <a:rPr sz="1200" spc="409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4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projeto</a:t>
            </a:r>
            <a:r>
              <a:rPr sz="1200" spc="40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sem</a:t>
            </a:r>
            <a:r>
              <a:rPr sz="1200" spc="409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o </a:t>
            </a:r>
            <a:r>
              <a:rPr sz="1200" spc="-10" dirty="0">
                <a:latin typeface="Tahoma"/>
                <a:cs typeface="Tahoma"/>
              </a:rPr>
              <a:t>node_modules;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ii)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arquivo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PDF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mostrando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passo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passo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build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50" dirty="0">
                <a:latin typeface="Tahoma"/>
                <a:cs typeface="Tahoma"/>
              </a:rPr>
              <a:t>e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execução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código.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Orientações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sobre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projeto:</a:t>
            </a:r>
            <a:endParaRPr sz="1200">
              <a:latin typeface="Tahoma"/>
              <a:cs typeface="Tahoma"/>
            </a:endParaRPr>
          </a:p>
          <a:p>
            <a:pPr marL="469900" marR="10160" lvl="1" indent="-320675" algn="just">
              <a:lnSpc>
                <a:spcPts val="1300"/>
              </a:lnSpc>
              <a:spcBef>
                <a:spcPts val="810"/>
              </a:spcBef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200" dirty="0">
                <a:latin typeface="Tahoma"/>
                <a:cs typeface="Tahoma"/>
              </a:rPr>
              <a:t>	Desenvolva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uma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página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cadastro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usuário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solicita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28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nome, </a:t>
            </a:r>
            <a:r>
              <a:rPr sz="1200" spc="-20" dirty="0">
                <a:latin typeface="Tahoma"/>
                <a:cs typeface="Tahoma"/>
              </a:rPr>
              <a:t>e-</a:t>
            </a:r>
            <a:r>
              <a:rPr sz="1200" dirty="0">
                <a:latin typeface="Tahoma"/>
                <a:cs typeface="Tahoma"/>
              </a:rPr>
              <a:t>mail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senha.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página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deve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ser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visualmente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atraente.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No</a:t>
            </a:r>
            <a:r>
              <a:rPr sz="1200" spc="-1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Front-</a:t>
            </a:r>
            <a:r>
              <a:rPr sz="1200" dirty="0">
                <a:latin typeface="Tahoma"/>
                <a:cs typeface="Tahoma"/>
              </a:rPr>
              <a:t>End</a:t>
            </a:r>
            <a:r>
              <a:rPr sz="1200" spc="-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do </a:t>
            </a:r>
            <a:r>
              <a:rPr sz="1200" dirty="0">
                <a:latin typeface="Tahoma"/>
                <a:cs typeface="Tahoma"/>
              </a:rPr>
              <a:t>seu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projeto,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implemente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validação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dos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campos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entrada.</a:t>
            </a:r>
            <a:endParaRPr sz="1200">
              <a:latin typeface="Tahoma"/>
              <a:cs typeface="Tahoma"/>
            </a:endParaRPr>
          </a:p>
          <a:p>
            <a:pPr marL="469900" marR="12065" lvl="1" indent="-320675" algn="just">
              <a:lnSpc>
                <a:spcPts val="1300"/>
              </a:lnSpc>
              <a:spcBef>
                <a:spcPts val="815"/>
              </a:spcBef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200" dirty="0">
                <a:latin typeface="Tahoma"/>
                <a:cs typeface="Tahoma"/>
              </a:rPr>
              <a:t>	O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campo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“Nome”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deve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aceitar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apenas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letras</a:t>
            </a:r>
            <a:r>
              <a:rPr sz="1200" spc="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espaços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em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branco,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ter </a:t>
            </a:r>
            <a:r>
              <a:rPr sz="1200" dirty="0">
                <a:latin typeface="Tahoma"/>
                <a:cs typeface="Tahoma"/>
              </a:rPr>
              <a:t>no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mínimo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4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caracteres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(desconsiderando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espaços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em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branco).</a:t>
            </a:r>
            <a:endParaRPr sz="1200">
              <a:latin typeface="Tahoma"/>
              <a:cs typeface="Tahoma"/>
            </a:endParaRPr>
          </a:p>
          <a:p>
            <a:pPr marL="469265" lvl="1" indent="-320040">
              <a:lnSpc>
                <a:spcPct val="100000"/>
              </a:lnSpc>
              <a:spcBef>
                <a:spcPts val="660"/>
              </a:spcBef>
              <a:buFont typeface="Arial"/>
              <a:buChar char="●"/>
              <a:tabLst>
                <a:tab pos="469265" algn="l"/>
              </a:tabLst>
            </a:pPr>
            <a:r>
              <a:rPr sz="1200" dirty="0">
                <a:latin typeface="Tahoma"/>
                <a:cs typeface="Tahoma"/>
              </a:rPr>
              <a:t>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campo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“E-</a:t>
            </a:r>
            <a:r>
              <a:rPr sz="1200" dirty="0">
                <a:latin typeface="Tahoma"/>
                <a:cs typeface="Tahoma"/>
              </a:rPr>
              <a:t>mail”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deve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seguir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padrão</a:t>
            </a:r>
            <a:r>
              <a:rPr sz="1200" spc="-3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válido.</a:t>
            </a:r>
            <a:endParaRPr sz="1200">
              <a:latin typeface="Tahoma"/>
              <a:cs typeface="Tahoma"/>
            </a:endParaRPr>
          </a:p>
          <a:p>
            <a:pPr marL="469900" marR="8890" lvl="1" indent="-320675" algn="just">
              <a:lnSpc>
                <a:spcPts val="1300"/>
              </a:lnSpc>
              <a:spcBef>
                <a:spcPts val="845"/>
              </a:spcBef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200" dirty="0">
                <a:latin typeface="Tahoma"/>
                <a:cs typeface="Tahoma"/>
              </a:rPr>
              <a:t>	O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campo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“Senha”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deve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conter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pelo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menos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uma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letra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número,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ter </a:t>
            </a:r>
            <a:r>
              <a:rPr sz="1200" dirty="0">
                <a:latin typeface="Tahoma"/>
                <a:cs typeface="Tahoma"/>
              </a:rPr>
              <a:t>no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mínimo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8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caracteres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2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comprimento.</a:t>
            </a:r>
            <a:endParaRPr sz="1200">
              <a:latin typeface="Tahoma"/>
              <a:cs typeface="Tahoma"/>
            </a:endParaRPr>
          </a:p>
          <a:p>
            <a:pPr marL="469900" marR="5080" lvl="1" indent="-320675" algn="just">
              <a:lnSpc>
                <a:spcPts val="1300"/>
              </a:lnSpc>
              <a:spcBef>
                <a:spcPts val="815"/>
              </a:spcBef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200" dirty="0">
                <a:latin typeface="Tahoma"/>
                <a:cs typeface="Tahoma"/>
              </a:rPr>
              <a:t>	Se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usuário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inserir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ou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mais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campos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não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estejam</a:t>
            </a:r>
            <a:r>
              <a:rPr sz="1200" spc="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acordo</a:t>
            </a:r>
            <a:r>
              <a:rPr sz="1200" spc="2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com </a:t>
            </a:r>
            <a:r>
              <a:rPr sz="1200" dirty="0">
                <a:latin typeface="Tahoma"/>
                <a:cs typeface="Tahoma"/>
              </a:rPr>
              <a:t>os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critérios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especificados,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deverá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ser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apresentada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mensagem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erro </a:t>
            </a:r>
            <a:r>
              <a:rPr sz="1200" dirty="0">
                <a:latin typeface="Tahoma"/>
                <a:cs typeface="Tahoma"/>
              </a:rPr>
              <a:t>adequada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indicando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problema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em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cada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campo.</a:t>
            </a:r>
            <a:endParaRPr sz="1200">
              <a:latin typeface="Tahoma"/>
              <a:cs typeface="Tahoma"/>
            </a:endParaRPr>
          </a:p>
          <a:p>
            <a:pPr marL="469900" marR="5080" lvl="1" indent="-320675" algn="just">
              <a:lnSpc>
                <a:spcPts val="1300"/>
              </a:lnSpc>
              <a:spcBef>
                <a:spcPts val="815"/>
              </a:spcBef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200" dirty="0">
                <a:latin typeface="Tahoma"/>
                <a:cs typeface="Tahoma"/>
              </a:rPr>
              <a:t>	Quando</a:t>
            </a:r>
            <a:r>
              <a:rPr sz="1200" spc="4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todos</a:t>
            </a:r>
            <a:r>
              <a:rPr sz="1200" spc="6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os</a:t>
            </a:r>
            <a:r>
              <a:rPr sz="1200" spc="6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dados</a:t>
            </a:r>
            <a:r>
              <a:rPr sz="1200" spc="65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informados</a:t>
            </a:r>
            <a:r>
              <a:rPr sz="1200" spc="4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estiverem</a:t>
            </a:r>
            <a:r>
              <a:rPr sz="1200" spc="6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dentro</a:t>
            </a:r>
            <a:r>
              <a:rPr sz="1200" spc="6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dos</a:t>
            </a:r>
            <a:r>
              <a:rPr sz="1200" spc="65" dirty="0">
                <a:latin typeface="Tahoma"/>
                <a:cs typeface="Tahoma"/>
              </a:rPr>
              <a:t>  </a:t>
            </a:r>
            <a:r>
              <a:rPr sz="1200" spc="-10" dirty="0">
                <a:latin typeface="Tahoma"/>
                <a:cs typeface="Tahoma"/>
              </a:rPr>
              <a:t>padrões </a:t>
            </a:r>
            <a:r>
              <a:rPr sz="1200" dirty="0">
                <a:latin typeface="Tahoma"/>
                <a:cs typeface="Tahoma"/>
              </a:rPr>
              <a:t>exigidos,</a:t>
            </a:r>
            <a:r>
              <a:rPr sz="1200" spc="4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4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modal</a:t>
            </a:r>
            <a:r>
              <a:rPr sz="1200" spc="4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deve</a:t>
            </a:r>
            <a:r>
              <a:rPr sz="1200" spc="4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ser</a:t>
            </a:r>
            <a:r>
              <a:rPr sz="1200" spc="42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ativado,</a:t>
            </a:r>
            <a:r>
              <a:rPr sz="1200" spc="4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exibindo</a:t>
            </a:r>
            <a:r>
              <a:rPr sz="1200" spc="4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uma</a:t>
            </a:r>
            <a:r>
              <a:rPr sz="1200" spc="4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mensagem</a:t>
            </a:r>
            <a:r>
              <a:rPr sz="1200" spc="4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de </a:t>
            </a:r>
            <a:r>
              <a:rPr sz="1200" dirty="0">
                <a:latin typeface="Tahoma"/>
                <a:cs typeface="Tahoma"/>
              </a:rPr>
              <a:t>confirmação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informe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ao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usuário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seu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cadastro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foi</a:t>
            </a:r>
            <a:r>
              <a:rPr sz="1200" spc="9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realizado</a:t>
            </a:r>
            <a:r>
              <a:rPr sz="1200" spc="10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com </a:t>
            </a:r>
            <a:r>
              <a:rPr sz="1200" spc="-10" dirty="0">
                <a:latin typeface="Tahoma"/>
                <a:cs typeface="Tahoma"/>
              </a:rPr>
              <a:t>sucesso.</a:t>
            </a:r>
            <a:endParaRPr sz="1200">
              <a:latin typeface="Tahoma"/>
              <a:cs typeface="Tahoma"/>
            </a:endParaRPr>
          </a:p>
          <a:p>
            <a:pPr marL="469900" marR="7620" lvl="1" indent="-320675" algn="just">
              <a:lnSpc>
                <a:spcPts val="1300"/>
              </a:lnSpc>
              <a:spcBef>
                <a:spcPts val="810"/>
              </a:spcBef>
              <a:buFont typeface="Arial"/>
              <a:buChar char="●"/>
              <a:tabLst>
                <a:tab pos="469900" algn="l"/>
                <a:tab pos="471805" algn="l"/>
              </a:tabLst>
            </a:pPr>
            <a:r>
              <a:rPr sz="1200" dirty="0">
                <a:latin typeface="Tahoma"/>
                <a:cs typeface="Tahoma"/>
              </a:rPr>
              <a:t>	É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importante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ressaltar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que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este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é</a:t>
            </a:r>
            <a:r>
              <a:rPr sz="1200" spc="85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projeto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dirty="0">
                <a:latin typeface="Tahoma"/>
                <a:cs typeface="Tahoma"/>
              </a:rPr>
              <a:t>exclusivamente</a:t>
            </a:r>
            <a:r>
              <a:rPr sz="1200" spc="80" dirty="0">
                <a:latin typeface="Tahoma"/>
                <a:cs typeface="Tahoma"/>
              </a:rPr>
              <a:t>  </a:t>
            </a:r>
            <a:r>
              <a:rPr sz="1200" spc="-25" dirty="0">
                <a:latin typeface="Tahoma"/>
                <a:cs typeface="Tahoma"/>
              </a:rPr>
              <a:t>de </a:t>
            </a:r>
            <a:r>
              <a:rPr sz="1200" spc="-20" dirty="0">
                <a:latin typeface="Tahoma"/>
                <a:cs typeface="Tahoma"/>
              </a:rPr>
              <a:t>Front-</a:t>
            </a:r>
            <a:r>
              <a:rPr sz="1200" dirty="0">
                <a:latin typeface="Tahoma"/>
                <a:cs typeface="Tahoma"/>
              </a:rPr>
              <a:t>End,</a:t>
            </a:r>
            <a:r>
              <a:rPr sz="1200" spc="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portanto,</a:t>
            </a:r>
            <a:r>
              <a:rPr sz="1200" spc="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</a:t>
            </a:r>
            <a:r>
              <a:rPr sz="1200" spc="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cadastro</a:t>
            </a:r>
            <a:r>
              <a:rPr sz="1200" spc="1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não</a:t>
            </a:r>
            <a:r>
              <a:rPr sz="1200" spc="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será</a:t>
            </a:r>
            <a:r>
              <a:rPr sz="1200" spc="14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efetivamente</a:t>
            </a:r>
            <a:r>
              <a:rPr sz="1200" spc="1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armazenado</a:t>
            </a:r>
            <a:r>
              <a:rPr sz="1200" spc="140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em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banco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dados,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nem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é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necessário</a:t>
            </a:r>
            <a:r>
              <a:rPr sz="1200" spc="-20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implementar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um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spc="-25" dirty="0">
                <a:latin typeface="Tahoma"/>
                <a:cs typeface="Tahoma"/>
              </a:rPr>
              <a:t>Back-</a:t>
            </a:r>
            <a:r>
              <a:rPr sz="1200" spc="-20" dirty="0">
                <a:latin typeface="Tahoma"/>
                <a:cs typeface="Tahoma"/>
              </a:rPr>
              <a:t>End.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321</Words>
  <Application>Microsoft Office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Tahoma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vitor predator</cp:lastModifiedBy>
  <cp:revision>3</cp:revision>
  <dcterms:created xsi:type="dcterms:W3CDTF">2025-04-29T23:45:18Z</dcterms:created>
  <dcterms:modified xsi:type="dcterms:W3CDTF">2025-07-20T18:36:12Z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2024-05-22T00:00:00Z</vt:filetime>
  </property>
</Properties>
</file>